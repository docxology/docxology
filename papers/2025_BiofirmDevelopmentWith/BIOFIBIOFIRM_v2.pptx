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2" r:id="rId3"/>
    <p:sldId id="263" r:id="rId4"/>
    <p:sldId id="264" r:id="rId5"/>
    <p:sldId id="257" r:id="rId6"/>
    <p:sldId id="258" r:id="rId7"/>
    <p:sldId id="259" r:id="rId8"/>
    <p:sldId id="260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3D62-C46E-984B-BC08-63C297649973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E07B-1C4B-C441-B998-CA4A6A92C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55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3D62-C46E-984B-BC08-63C297649973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E07B-1C4B-C441-B998-CA4A6A92C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87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3D62-C46E-984B-BC08-63C297649973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E07B-1C4B-C441-B998-CA4A6A92C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351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3D62-C46E-984B-BC08-63C297649973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E07B-1C4B-C441-B998-CA4A6A92C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459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3D62-C46E-984B-BC08-63C297649973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E07B-1C4B-C441-B998-CA4A6A92C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91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3D62-C46E-984B-BC08-63C297649973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E07B-1C4B-C441-B998-CA4A6A92C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8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3D62-C46E-984B-BC08-63C297649973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E07B-1C4B-C441-B998-CA4A6A92C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4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3D62-C46E-984B-BC08-63C297649973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E07B-1C4B-C441-B998-CA4A6A92C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77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3D62-C46E-984B-BC08-63C297649973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E07B-1C4B-C441-B998-CA4A6A92C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19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3D62-C46E-984B-BC08-63C297649973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E07B-1C4B-C441-B998-CA4A6A92C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919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03D62-C46E-984B-BC08-63C297649973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E07B-1C4B-C441-B998-CA4A6A92C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210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03D62-C46E-984B-BC08-63C297649973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4E07B-1C4B-C441-B998-CA4A6A92C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9136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mailto:ohn@fp1.ai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36F5F2-AD79-2A49-8D85-0E80A52676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0"/>
            <a:ext cx="5962785" cy="4567137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ACTIVE INFERENCE BIOFIRM HOMEOSTATIC AGENTS</a:t>
            </a:r>
            <a:br>
              <a:rPr lang="en-US" sz="4400" dirty="0"/>
            </a:br>
            <a:r>
              <a:rPr lang="en-US" sz="4400" dirty="0"/>
              <a:t>FOR</a:t>
            </a:r>
            <a:br>
              <a:rPr lang="en-US" sz="4400" dirty="0"/>
            </a:br>
            <a:r>
              <a:rPr lang="en-US" sz="4400" dirty="0"/>
              <a:t>BIOREGIONAL &amp; REGENERATIVE FINANCE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05C74-D49A-E74E-93A2-7A624C677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4976734"/>
            <a:ext cx="4620584" cy="1454046"/>
          </a:xfrm>
        </p:spPr>
        <p:txBody>
          <a:bodyPr>
            <a:normAutofit/>
          </a:bodyPr>
          <a:lstStyle/>
          <a:p>
            <a:pPr algn="l"/>
            <a:r>
              <a:rPr lang="en-US" sz="1600" dirty="0"/>
              <a:t>ACTIVE INFERENCE INSTITUTE</a:t>
            </a:r>
          </a:p>
          <a:p>
            <a:pPr algn="l"/>
            <a:r>
              <a:rPr lang="en-US" sz="1600" dirty="0"/>
              <a:t>FIRST PRINCIPLES FIRST</a:t>
            </a:r>
          </a:p>
          <a:p>
            <a:pPr algn="l"/>
            <a:r>
              <a:rPr lang="en-US" sz="1600" dirty="0"/>
              <a:t>NOVEMBER 14, 2024</a:t>
            </a:r>
          </a:p>
        </p:txBody>
      </p:sp>
      <p:pic>
        <p:nvPicPr>
          <p:cNvPr id="7" name="Picture 2" descr="There's a Fungus Among Us–You Won't Believe the Variety! – Nature for my  Soul">
            <a:extLst>
              <a:ext uri="{FF2B5EF4-FFF2-40B4-BE49-F238E27FC236}">
                <a16:creationId xmlns:a16="http://schemas.microsoft.com/office/drawing/2014/main" id="{AE1C32BB-72E6-9A48-822D-8E0C269C3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352"/>
                    </a14:imgEffect>
                    <a14:imgEffect>
                      <a14:saturation sat="57000"/>
                    </a14:imgEffect>
                    <a14:imgEffect>
                      <a14:brightnessContrast contrast="-6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148" r="24249" b="-1"/>
          <a:stretch/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959817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0A6C6-9DD8-8346-AA5C-4F5954D9C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63" y="563908"/>
            <a:ext cx="11025273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dirty="0"/>
              <a:t>WHAT IS NEEDED FOR A NEW SCIENCE-BASED ECONOMY BASED UPON ENHANCING LIFE, NATURE AND EQUALITY?</a:t>
            </a:r>
          </a:p>
        </p:txBody>
      </p:sp>
      <p:pic>
        <p:nvPicPr>
          <p:cNvPr id="3076" name="Picture 4" descr="Pin page">
            <a:extLst>
              <a:ext uri="{FF2B5EF4-FFF2-40B4-BE49-F238E27FC236}">
                <a16:creationId xmlns:a16="http://schemas.microsoft.com/office/drawing/2014/main" id="{0F1643D9-7807-D544-8BE3-7C32D7CD7E6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03080" y="2595610"/>
            <a:ext cx="5318596" cy="3799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Tolkien and Theology: The Natural World Part I | &gt;unfinished">
            <a:extLst>
              <a:ext uri="{FF2B5EF4-FFF2-40B4-BE49-F238E27FC236}">
                <a16:creationId xmlns:a16="http://schemas.microsoft.com/office/drawing/2014/main" id="{0CB7A643-3E04-EF45-840F-C9B6E80A0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24" y="2595610"/>
            <a:ext cx="4779151" cy="4039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0495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2800616-EF1B-6B47-99A6-C2859099C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67732"/>
            <a:ext cx="11018520" cy="971649"/>
          </a:xfrm>
        </p:spPr>
        <p:txBody>
          <a:bodyPr anchor="b">
            <a:norm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WHAT IS NOT NEEDED</a:t>
            </a:r>
          </a:p>
        </p:txBody>
      </p:sp>
      <p:sp>
        <p:nvSpPr>
          <p:cNvPr id="410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9FEE6C-9D2E-D04C-9220-A5660ED80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846805"/>
            <a:ext cx="7103165" cy="4786684"/>
          </a:xfrm>
        </p:spPr>
        <p:txBody>
          <a:bodyPr anchor="t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Commodification of Nature and People</a:t>
            </a: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Total Fungibility of All Asset Classes</a:t>
            </a: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Unbounded Concentration</a:t>
            </a:r>
            <a:r>
              <a:rPr lang="en-CA" dirty="0"/>
              <a:t>: Wealth, information, and power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Maximization of Private Utility</a:t>
            </a: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Extractive Value Metrics</a:t>
            </a:r>
            <a:r>
              <a:rPr lang="en-CA" dirty="0"/>
              <a:t>: With negative externalities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Zero-Sum, Winner-Takes-All Incentives</a:t>
            </a: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Lack of Transparency, Accountability, and Collective Purpose</a:t>
            </a:r>
            <a:endParaRPr lang="en-CA" dirty="0"/>
          </a:p>
        </p:txBody>
      </p:sp>
      <p:pic>
        <p:nvPicPr>
          <p:cNvPr id="4100" name="Picture 4" descr="China's Huge, Eerie Tower Blocks That ...">
            <a:extLst>
              <a:ext uri="{FF2B5EF4-FFF2-40B4-BE49-F238E27FC236}">
                <a16:creationId xmlns:a16="http://schemas.microsoft.com/office/drawing/2014/main" id="{35E8E5C2-0CE7-4745-A0B8-CE0EC03EB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37" r="24741" b="-1"/>
          <a:stretch/>
        </p:blipFill>
        <p:spPr bwMode="auto">
          <a:xfrm>
            <a:off x="7678443" y="2191891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0267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88BB5-5D52-0C43-B472-9F60B82BB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WHAT IS NEEDED - BIOMIMETIC FIRMS AND ECONOMY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2F900-E5A0-0C4C-83C6-B894CEC8F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53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CA" b="1" dirty="0"/>
              <a:t>No Negative Externalities</a:t>
            </a:r>
          </a:p>
          <a:p>
            <a:r>
              <a:rPr lang="en-CA" b="1" dirty="0"/>
              <a:t>Non-Zero-Sum Incentives</a:t>
            </a:r>
          </a:p>
          <a:p>
            <a:r>
              <a:rPr lang="en-CA" b="1" dirty="0"/>
              <a:t>Value Recognition</a:t>
            </a:r>
            <a:r>
              <a:rPr lang="en-CA" dirty="0"/>
              <a:t>: Aligned with biocapacity, diversity, and resilience</a:t>
            </a:r>
          </a:p>
          <a:p>
            <a:r>
              <a:rPr lang="en-CA" b="1" dirty="0"/>
              <a:t>Agency</a:t>
            </a:r>
            <a:r>
              <a:rPr lang="en-CA" dirty="0"/>
              <a:t>: Empowering nature, species, and people</a:t>
            </a:r>
          </a:p>
          <a:p>
            <a:r>
              <a:rPr lang="en-CA" b="1" dirty="0"/>
              <a:t>Homeostatic Fungibility</a:t>
            </a:r>
            <a:r>
              <a:rPr lang="en-CA" dirty="0"/>
              <a:t>: Among various asset types</a:t>
            </a:r>
          </a:p>
          <a:p>
            <a:r>
              <a:rPr lang="en-CA" b="1" dirty="0"/>
              <a:t>Scale &amp; Domain-Free Metrics</a:t>
            </a:r>
            <a:r>
              <a:rPr lang="en-CA" dirty="0"/>
              <a:t>: Scientific and adaptable</a:t>
            </a:r>
          </a:p>
          <a:p>
            <a:r>
              <a:rPr lang="en-CA" b="1" dirty="0"/>
              <a:t>Transparency, Explainability, Accountability</a:t>
            </a:r>
          </a:p>
          <a:p>
            <a:r>
              <a:rPr lang="en-CA" b="1" dirty="0"/>
              <a:t>Scalable Learning and Adaptation</a:t>
            </a:r>
            <a:r>
              <a:rPr lang="en-CA" dirty="0"/>
              <a:t>: Automatable processes</a:t>
            </a:r>
          </a:p>
          <a:p>
            <a:r>
              <a:rPr lang="en-CA" b="1" dirty="0"/>
              <a:t>Decentralized Governance</a:t>
            </a:r>
            <a:r>
              <a:rPr lang="en-CA" dirty="0"/>
              <a:t>: Nested and autonomous 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423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BD506-10A1-DA41-B76A-7DEA101F4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73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ALIGNMENT WITH ELINOR OSTROM’S WORK ON GOVERNANCE OF THE COMMONS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C3E35-42A3-204E-B513-AE43AC7AC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026" y="1879532"/>
            <a:ext cx="8865705" cy="4613344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sz="1400" b="1" dirty="0"/>
              <a:t>CLEARLY DEFINED BOUNDARIES</a:t>
            </a:r>
            <a:br>
              <a:rPr lang="en-CA" sz="1400" dirty="0"/>
            </a:br>
            <a:r>
              <a:rPr lang="en-CA" sz="1400" dirty="0"/>
              <a:t>Rights to withdraw resources and the boundaries of the Common Pool Resource (CPR) must be clearly specified.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1400" b="1" dirty="0"/>
              <a:t>CONGRUENCE WITH LOCAL CONDITIONS</a:t>
            </a:r>
            <a:br>
              <a:rPr lang="en-CA" sz="1400" dirty="0"/>
            </a:br>
            <a:r>
              <a:rPr lang="en-CA" sz="1400" dirty="0"/>
              <a:t>Appropriation rules, including time, place, technology, and quantity, align with local labor, materials, and economic factors.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1400" b="1" dirty="0"/>
              <a:t>COLLECTIVE-CHOICE ARRANGEMENTS</a:t>
            </a:r>
            <a:br>
              <a:rPr lang="en-CA" sz="1400" dirty="0"/>
            </a:br>
            <a:r>
              <a:rPr lang="en-CA" sz="1400" dirty="0"/>
              <a:t>Individuals impacted by operational rules can actively participate in modifying those rules.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1400" b="1" dirty="0"/>
              <a:t>MONITORING</a:t>
            </a:r>
            <a:br>
              <a:rPr lang="en-CA" sz="1400" dirty="0"/>
            </a:br>
            <a:r>
              <a:rPr lang="en-CA" sz="1400" dirty="0"/>
              <a:t>Monitors who audit CPR conditions and user behavior are accountable to or are the appropriators themselves.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1400" b="1" dirty="0"/>
              <a:t>GRADUATED SANCTIONS</a:t>
            </a:r>
            <a:br>
              <a:rPr lang="en-CA" sz="1400" dirty="0"/>
            </a:br>
            <a:r>
              <a:rPr lang="en-CA" sz="1400" dirty="0"/>
              <a:t>Violators of operational rules face sanctions proportional to the severity and context of the offense, imposed by peers or accountable officials.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1400" b="1" dirty="0"/>
              <a:t>CONFLICT-RESOLUTION MECHANISMS</a:t>
            </a:r>
            <a:br>
              <a:rPr lang="en-CA" sz="1400" dirty="0"/>
            </a:br>
            <a:r>
              <a:rPr lang="en-CA" sz="1400" dirty="0"/>
              <a:t>Appropriators and officials have access to low-cost, local venues for resolving conflicts efficiently.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1400" b="1" dirty="0"/>
              <a:t>RECOGNITION OF ORGANIZATIONAL RIGHTS</a:t>
            </a:r>
            <a:br>
              <a:rPr lang="en-CA" sz="1400" dirty="0"/>
            </a:br>
            <a:r>
              <a:rPr lang="en-CA" sz="1400" dirty="0"/>
              <a:t>Appropriators' rights to create institutions are respected and not challenged by external authorities.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1400" b="1" dirty="0"/>
              <a:t>NESTED ENTERPRISES</a:t>
            </a:r>
            <a:br>
              <a:rPr lang="en-CA" sz="1400" dirty="0"/>
            </a:br>
            <a:r>
              <a:rPr lang="en-CA" sz="1400" dirty="0"/>
              <a:t>For larger systems, activities such as appropriation, monitoring, enforcement, and governance are managed through multiple layers of nested organizations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72437E8-4B34-E94D-AA3D-F1ED5B296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714" y="2109754"/>
            <a:ext cx="2794000" cy="41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5574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E24B-4417-8A48-B2AA-6F50FE8A9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207"/>
            <a:ext cx="10515600" cy="1325563"/>
          </a:xfrm>
        </p:spPr>
        <p:txBody>
          <a:bodyPr/>
          <a:lstStyle/>
          <a:p>
            <a:r>
              <a:rPr lang="en-US" dirty="0"/>
              <a:t>OSTROM’S SOCIAL-ECOLOGICAL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134BC-0ABB-2D4A-B041-21F09C65C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657" y="1579770"/>
            <a:ext cx="10664686" cy="4913105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CA" dirty="0"/>
              <a:t> A coherent system of biophysical and social factors that regularly interact in a resilient, sustained manner</a:t>
            </a:r>
          </a:p>
          <a:p>
            <a:pPr algn="l">
              <a:buFont typeface="+mj-lt"/>
              <a:buAutoNum type="arabicPeriod"/>
            </a:pPr>
            <a:endParaRPr lang="en-CA" dirty="0"/>
          </a:p>
          <a:p>
            <a:pPr algn="l">
              <a:buFont typeface="+mj-lt"/>
              <a:buAutoNum type="arabicPeriod"/>
            </a:pPr>
            <a:r>
              <a:rPr lang="en-CA" dirty="0"/>
              <a:t> Defined across multiple spatial, temporal, and organizational scales, often hierarchically linked</a:t>
            </a:r>
          </a:p>
          <a:p>
            <a:pPr algn="l">
              <a:buFont typeface="+mj-lt"/>
              <a:buAutoNum type="arabicPeriod"/>
            </a:pPr>
            <a:endParaRPr lang="en-CA" dirty="0"/>
          </a:p>
          <a:p>
            <a:pPr algn="l">
              <a:buFont typeface="+mj-lt"/>
              <a:buAutoNum type="arabicPeriod"/>
            </a:pPr>
            <a:r>
              <a:rPr lang="en-CA" dirty="0"/>
              <a:t> Comprises critical resources (natural, socio-economic, cultural) regulated by interconnected ecological and social systems</a:t>
            </a:r>
          </a:p>
          <a:p>
            <a:pPr algn="l">
              <a:buFont typeface="+mj-lt"/>
              <a:buAutoNum type="arabicPeriod"/>
            </a:pPr>
            <a:endParaRPr lang="en-CA" dirty="0"/>
          </a:p>
          <a:p>
            <a:pPr algn="l">
              <a:buFont typeface="+mj-lt"/>
              <a:buAutoNum type="arabicPeriod"/>
            </a:pPr>
            <a:r>
              <a:rPr lang="en-CA" dirty="0"/>
              <a:t> A dynamic, complex system characterized by continuous adaptation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986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36EF-1A4B-D743-A299-E2C7F380A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TEHANU – GIVING AGENCY AND VALUE TO NATURE AND SPECIES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29B84-58E9-1649-9EEE-8113726AA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562" y="1921390"/>
            <a:ext cx="6567230" cy="457148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“Animals, trees, and countless other species are essential to the global economy. Our world cannot truly prosper if only humans benefit from its resources.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We build infrastructure that supports a circular flow of money and data between humans and other species, ensuring mutual flourishing.</a:t>
            </a:r>
          </a:p>
          <a:p>
            <a:pPr marL="0" indent="0" algn="r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 err="1"/>
              <a:t>Tehanu</a:t>
            </a:r>
            <a:r>
              <a:rPr lang="en-CA" dirty="0"/>
              <a:t> exists with the belief that for these species to thrive, they must actively participate in our economy.”</a:t>
            </a:r>
          </a:p>
        </p:txBody>
      </p:sp>
      <p:pic>
        <p:nvPicPr>
          <p:cNvPr id="5122" name="Picture 2" descr="Creating green jobs through biodiversity conservation: Tehanu AI’s pilot project">
            <a:extLst>
              <a:ext uri="{FF2B5EF4-FFF2-40B4-BE49-F238E27FC236}">
                <a16:creationId xmlns:a16="http://schemas.microsoft.com/office/drawing/2014/main" id="{3E9EABA5-B4F4-A144-8501-C1DEFBEBD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354" y="1921390"/>
            <a:ext cx="5077085" cy="4571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349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9261-C143-784B-8942-D3E633D79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GIVING AGENCY TO NATURE: REGEN NETWORKS AND ECOLOGICAL INSTITUTIONS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7667F66-8D00-B44A-91B2-DE91B4C28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75" y="2012842"/>
            <a:ext cx="4491329" cy="4206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230480E6-2D38-B443-B841-595F37FE78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587" y="1940202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7749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480AB-FD29-3B4F-AEE8-C1A0EB561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188"/>
            <a:ext cx="10515600" cy="474324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BIOREGIONAL HUB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B85A2-3DD4-E94D-816F-54C093FFC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514" y="1184794"/>
            <a:ext cx="8485682" cy="55366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1800" b="1" dirty="0"/>
              <a:t>VISION AND PRINCIPLES</a:t>
            </a:r>
            <a:endParaRPr lang="en-CA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CA" sz="1800" dirty="0"/>
              <a:t>Align with living systems principles and Indigenous wisdom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800" dirty="0"/>
              <a:t>Serve the Bioregional Regeneration Strategy realization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800" dirty="0"/>
              <a:t>Emphasize inclusive, participatory governance representing the bioregion</a:t>
            </a:r>
          </a:p>
          <a:p>
            <a:pPr marL="0" indent="0">
              <a:buNone/>
            </a:pPr>
            <a:r>
              <a:rPr lang="en-CA" sz="1800" b="1" dirty="0"/>
              <a:t>CORE COMMITMENTS</a:t>
            </a:r>
            <a:endParaRPr lang="en-CA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CA" sz="1800" dirty="0"/>
              <a:t>Address power imbalances; ensure transparency and empowered participation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800" dirty="0"/>
              <a:t>Treat growth and returns as a means, not an end</a:t>
            </a:r>
          </a:p>
          <a:p>
            <a:pPr marL="0" indent="0">
              <a:buNone/>
            </a:pPr>
            <a:r>
              <a:rPr lang="en-CA" sz="1800" b="1" dirty="0"/>
              <a:t>STRATEGIC APPROACHES</a:t>
            </a:r>
            <a:endParaRPr lang="en-CA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CA" sz="1800" dirty="0"/>
              <a:t>Leverage an integrated capital structure for organizing, weaving, and activation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800" dirty="0"/>
              <a:t>Raise funds from purpose-aligned investors and funders</a:t>
            </a:r>
          </a:p>
          <a:p>
            <a:pPr marL="0" indent="0">
              <a:buNone/>
            </a:pPr>
            <a:r>
              <a:rPr lang="en-CA" sz="1800" b="1" dirty="0"/>
              <a:t>KEY ACTIONS</a:t>
            </a:r>
            <a:endParaRPr lang="en-CA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CA" sz="1800" dirty="0"/>
              <a:t>Provide aggregation and matchmaking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800" dirty="0"/>
              <a:t>Implement an integrated approach to sensing and MRV (Monitoring, Reporting, and Verification)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800" dirty="0"/>
              <a:t>Invest in impactful storytelling</a:t>
            </a:r>
          </a:p>
        </p:txBody>
      </p:sp>
      <p:pic>
        <p:nvPicPr>
          <p:cNvPr id="7170" name="Picture 2" descr="Bioregional Financing Facilities: Reimagining Finance to Regenerate Our  Planet|Paperback">
            <a:extLst>
              <a:ext uri="{FF2B5EF4-FFF2-40B4-BE49-F238E27FC236}">
                <a16:creationId xmlns:a16="http://schemas.microsoft.com/office/drawing/2014/main" id="{92BD4B00-F9FC-F743-A3EB-F72B25009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8990" y="1307892"/>
            <a:ext cx="2799030" cy="402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2738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F490A-C72D-6644-9697-33FC55F30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67" y="3201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      </a:t>
            </a:r>
            <a:r>
              <a:rPr lang="en-US" sz="3600" b="1" dirty="0">
                <a:solidFill>
                  <a:srgbClr val="00B050"/>
                </a:solidFill>
              </a:rPr>
              <a:t>BIOMFIRM</a:t>
            </a:r>
            <a:r>
              <a:rPr lang="en-US" sz="3600" dirty="0"/>
              <a:t> MEETS </a:t>
            </a:r>
            <a:r>
              <a:rPr lang="en-US" sz="3600" b="1" dirty="0">
                <a:solidFill>
                  <a:srgbClr val="00B050"/>
                </a:solidFill>
              </a:rPr>
              <a:t>BIOFI</a:t>
            </a:r>
            <a:r>
              <a:rPr lang="en-US" sz="3600" dirty="0"/>
              <a:t> OPERATIONAL AND ASPIRATIONAL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DEFBA-9EF4-8149-8EE6-D4C51ADC5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First Principle- based grounded in the scientific method &amp; Bayesian Statistics-Markov blanket</a:t>
            </a:r>
          </a:p>
          <a:p>
            <a:r>
              <a:rPr lang="en-US" dirty="0"/>
              <a:t>Computationally tractable scale and domain-free metrics for sensing MRVs</a:t>
            </a:r>
          </a:p>
          <a:p>
            <a:r>
              <a:rPr lang="en-US" dirty="0"/>
              <a:t>Open-source kernel of </a:t>
            </a:r>
            <a:r>
              <a:rPr lang="en-US" dirty="0" err="1"/>
              <a:t>biofirm</a:t>
            </a:r>
            <a:r>
              <a:rPr lang="en-US" dirty="0"/>
              <a:t> – based upon homeostatic –biomimetic principles of self-organization, self-healing, self-modeling, nested alignment around shared goals and outcomes</a:t>
            </a:r>
          </a:p>
          <a:p>
            <a:r>
              <a:rPr lang="en-US" dirty="0"/>
              <a:t>Highly automated functions and competencies through learning interfacing with LLMs</a:t>
            </a:r>
          </a:p>
          <a:p>
            <a:r>
              <a:rPr lang="en-US" dirty="0"/>
              <a:t>Scalable through secure edge networks to enable value exchange among diverse  </a:t>
            </a:r>
            <a:r>
              <a:rPr lang="en-US" dirty="0" err="1"/>
              <a:t>biofirms</a:t>
            </a:r>
            <a:endParaRPr lang="en-US" dirty="0"/>
          </a:p>
          <a:p>
            <a:r>
              <a:rPr lang="en-US" dirty="0"/>
              <a:t>Poly-centric governance and “nested enterprise” through shared outcomes  &amp; telos</a:t>
            </a:r>
          </a:p>
          <a:p>
            <a:r>
              <a:rPr lang="en-US" dirty="0"/>
              <a:t>Cooperative incentives and value allocation – FEP &amp; Shapley Value</a:t>
            </a:r>
          </a:p>
          <a:p>
            <a:r>
              <a:rPr lang="en-US" dirty="0"/>
              <a:t>Autonomous and decentralized governance and value recognition and allocation.</a:t>
            </a:r>
          </a:p>
          <a:p>
            <a:r>
              <a:rPr lang="en-US" dirty="0"/>
              <a:t>Gives agency to Nature, species and individuals to </a:t>
            </a:r>
          </a:p>
          <a:p>
            <a:r>
              <a:rPr lang="en-US" dirty="0"/>
              <a:t>Intrinsic governance and security by initial design and telos.</a:t>
            </a:r>
          </a:p>
          <a:p>
            <a:r>
              <a:rPr lang="en-US" dirty="0"/>
              <a:t>Principled means on interfacing biomimetic economy with current Fiat economy</a:t>
            </a:r>
          </a:p>
          <a:p>
            <a:r>
              <a:rPr lang="en-US" dirty="0"/>
              <a:t>Provides a principled basis for valuing ” nature- based “currencies and assets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387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9514-0AC7-8843-8497-E1D663F3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355" y="2270191"/>
            <a:ext cx="4617971" cy="715659"/>
          </a:xfrm>
        </p:spPr>
        <p:txBody>
          <a:bodyPr>
            <a:normAutofit/>
          </a:bodyPr>
          <a:lstStyle/>
          <a:p>
            <a:r>
              <a:rPr lang="en-US" dirty="0"/>
              <a:t>LET’S MAKE IT REAL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0698B2-8FA5-6D41-B516-A1CE754F15AE}"/>
              </a:ext>
            </a:extLst>
          </p:cNvPr>
          <p:cNvSpPr txBox="1"/>
          <p:nvPr/>
        </p:nvSpPr>
        <p:spPr>
          <a:xfrm>
            <a:off x="4973737" y="4860386"/>
            <a:ext cx="224452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john@fp1.ai</a:t>
            </a:r>
            <a:endParaRPr lang="en-US" sz="3200" dirty="0"/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www.fp1.ai</a:t>
            </a:r>
          </a:p>
        </p:txBody>
      </p:sp>
      <p:pic>
        <p:nvPicPr>
          <p:cNvPr id="8194" name="Picture 2" descr="Phish.Net: When is a good time to start rolling your sleeves up?">
            <a:extLst>
              <a:ext uri="{FF2B5EF4-FFF2-40B4-BE49-F238E27FC236}">
                <a16:creationId xmlns:a16="http://schemas.microsoft.com/office/drawing/2014/main" id="{1322C515-6A7C-BA42-A695-ABB19CFF6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675" y="1212784"/>
            <a:ext cx="3638994" cy="2830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0449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1832</TotalTime>
  <Words>759</Words>
  <Application>Microsoft Macintosh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ACTIVE INFERENCE BIOFIRM HOMEOSTATIC AGENTS FOR BIOREGIONAL &amp; REGENERATIVE FINANCE</vt:lpstr>
      <vt:lpstr>WHAT IS NEEDED FOR A NEW SCIENCE-BASED ECONOMY BASED UPON ENHANCING LIFE, NATURE AND EQUALITY?</vt:lpstr>
      <vt:lpstr>WHAT IS NOT NEEDED</vt:lpstr>
      <vt:lpstr>WHAT IS NEEDED - BIOMIMETIC FIRMS AND ECONOMY</vt:lpstr>
      <vt:lpstr>ALIGNMENT WITH ELINOR OSTROM’S WORK ON GOVERNANCE OF THE COMMONS</vt:lpstr>
      <vt:lpstr>OSTROM’S SOCIAL-ECOLOGICAL SYSTEM</vt:lpstr>
      <vt:lpstr>TEHANU – GIVING AGENCY AND VALUE TO NATURE AND SPECIES</vt:lpstr>
      <vt:lpstr>GIVING AGENCY TO NATURE: REGEN NETWORKS AND ECOLOGICAL INSTITUTIONS</vt:lpstr>
      <vt:lpstr>BIOREGIONAL HUB STRATEGY</vt:lpstr>
      <vt:lpstr>      BIOMFIRM MEETS BIOFI OPERATIONAL AND ASPIRATIONAL CRITERIA</vt:lpstr>
      <vt:lpstr>LET’S MAKE IT REAL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ACTIVE  INFERENCE BIOFIRM HOMEOSTATIC AGENTS FOR BIOREGIONAL &amp; REGENERATIVE FINANCE </dc:title>
  <dc:creator>John Clippinger</dc:creator>
  <cp:lastModifiedBy>John Clippinger</cp:lastModifiedBy>
  <cp:revision>4</cp:revision>
  <dcterms:created xsi:type="dcterms:W3CDTF">2024-11-11T21:08:32Z</dcterms:created>
  <dcterms:modified xsi:type="dcterms:W3CDTF">2024-11-13T12:27:21Z</dcterms:modified>
</cp:coreProperties>
</file>